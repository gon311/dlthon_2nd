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키워드 베이스라인</c:v>
                </c:pt>
              </c:strCache>
            </c:strRef>
          </c:tx>
          <c:spPr>
            <a:solidFill>
              <a:srgbClr val="1F69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3B3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POI</c:v>
                  </c:pt>
                  <c:pt idx="1">
                    <c:v>FAQ</c:v>
                  </c:pt>
                  <c:pt idx="2">
                    <c:v>폴백</c:v>
                  </c:pt>
                  <c:pt idx="3">
                    <c:v>전체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91.7</c:v>
                </c:pt>
                <c:pt idx="2">
                  <c:v>100</c:v>
                </c:pt>
                <c:pt idx="3">
                  <c:v>96.6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BM25(순수 어휘)</c:v>
                </c:pt>
              </c:strCache>
            </c:strRef>
          </c:tx>
          <c:spPr>
            <a:solidFill>
              <a:srgbClr val="FF70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3B3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POI</c:v>
                  </c:pt>
                  <c:pt idx="1">
                    <c:v>FAQ</c:v>
                  </c:pt>
                  <c:pt idx="2">
                    <c:v>폴백</c:v>
                  </c:pt>
                  <c:pt idx="3">
                    <c:v>전체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78.6</c:v>
                </c:pt>
                <c:pt idx="1">
                  <c:v>83.3</c:v>
                </c:pt>
                <c:pt idx="2">
                  <c:v>33.3</c:v>
                </c:pt>
                <c:pt idx="3">
                  <c:v>75.9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03B36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B3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03B36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Context Recall</c:v>
                </c:pt>
              </c:strCache>
            </c:strRef>
          </c:tx>
          <c:spPr>
            <a:solidFill>
              <a:srgbClr val="1F695A"/>
            </a:solidFill>
            <a:ln w="38100" cap="flat">
              <a:solidFill>
                <a:srgbClr val="1F69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95A"/>
              </a:solidFill>
              <a:ln w="9525" cap="flat">
                <a:solidFill>
                  <a:srgbClr val="1F69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v1</c:v>
                  </c:pt>
                  <c:pt idx="2">
                    <c:v>v2</c:v>
                  </c:pt>
                  <c:pt idx="3">
                    <c:v>멀티쿼리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0.196</c:v>
                </c:pt>
                <c:pt idx="1">
                  <c:v>0.232</c:v>
                </c:pt>
                <c:pt idx="2">
                  <c:v>0.268</c:v>
                </c:pt>
                <c:pt idx="3">
                  <c:v>0.429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Answer Relevancy</c:v>
                </c:pt>
              </c:strCache>
            </c:strRef>
          </c:tx>
          <c:spPr>
            <a:solidFill>
              <a:srgbClr val="FF704F"/>
            </a:solidFill>
            <a:ln w="38100" cap="flat">
              <a:solidFill>
                <a:srgbClr val="FF70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704F"/>
              </a:solidFill>
              <a:ln w="9525" cap="flat">
                <a:solidFill>
                  <a:srgbClr val="FF70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v1</c:v>
                  </c:pt>
                  <c:pt idx="2">
                    <c:v>v2</c:v>
                  </c:pt>
                  <c:pt idx="3">
                    <c:v>멀티쿼리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0.268</c:v>
                </c:pt>
                <c:pt idx="1">
                  <c:v>0.315</c:v>
                </c:pt>
                <c:pt idx="2">
                  <c:v>0.294</c:v>
                </c:pt>
                <c:pt idx="3">
                  <c:v>0.319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Context Precision</c:v>
                </c:pt>
              </c:strCache>
            </c:strRef>
          </c:tx>
          <c:spPr>
            <a:solidFill>
              <a:srgbClr val="E0A92B"/>
            </a:solidFill>
            <a:ln w="38100" cap="flat">
              <a:solidFill>
                <a:srgbClr val="E0A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A92B"/>
              </a:solidFill>
              <a:ln w="9525" cap="flat">
                <a:solidFill>
                  <a:srgbClr val="E0A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v1</c:v>
                  </c:pt>
                  <c:pt idx="2">
                    <c:v>v2</c:v>
                  </c:pt>
                  <c:pt idx="3">
                    <c:v>멀티쿼리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0.426</c:v>
                </c:pt>
                <c:pt idx="1">
                  <c:v>0.521</c:v>
                </c:pt>
                <c:pt idx="2">
                  <c:v>0.476</c:v>
                </c:pt>
                <c:pt idx="3">
                  <c:v>0.44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3E7CB1"/>
            </a:solidFill>
            <a:ln w="38100" cap="flat">
              <a:solidFill>
                <a:srgbClr val="3E7C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v1</c:v>
                  </c:pt>
                  <c:pt idx="2">
                    <c:v>v2</c:v>
                  </c:pt>
                  <c:pt idx="3">
                    <c:v>멀티쿼리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0.531</c:v>
                </c:pt>
                <c:pt idx="1">
                  <c:v>0.592</c:v>
                </c:pt>
                <c:pt idx="2">
                  <c:v>0.62</c:v>
                </c:pt>
                <c:pt idx="3">
                  <c:v>0.514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B3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12700" cap="flat">
              <a:solidFill>
                <a:srgbClr val="E7EC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D817C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03B36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</c:v>
                </c:pt>
              </c:strCache>
            </c:strRef>
          </c:tx>
          <c:spPr>
            <a:solidFill>
              <a:srgbClr val="1F69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3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음식점</c:v>
                  </c:pt>
                  <c:pt idx="1">
                    <c:v>관광/문화</c:v>
                  </c:pt>
                  <c:pt idx="2">
                    <c:v>편의시설</c:v>
                  </c:pt>
                  <c:pt idx="3">
                    <c:v>기타</c:v>
                  </c:pt>
                  <c:pt idx="4">
                    <c:v>주차장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4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3B36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3B3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거리</c:v>
                </c:pt>
              </c:strCache>
            </c:strRef>
          </c:tx>
          <c:spPr>
            <a:solidFill>
              <a:srgbClr val="FF70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B3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0–300m</c:v>
                  </c:pt>
                  <c:pt idx="1">
                    <c:v>300–600m</c:v>
                  </c:pt>
                  <c:pt idx="2">
                    <c:v>600m–1km</c:v>
                  </c:pt>
                  <c:pt idx="3">
                    <c:v>1–1.5km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7</c:v>
                </c:pt>
                <c:pt idx="2">
                  <c:v>0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3B36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3B3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서비스명·팀·발표일. 발표자 PL. 운영 웹 QR을 우측 하단에 넣어도 좋음.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문제정의. 페인포인트 3가지 + 니즈 근거 수치.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솔루션 3축. 버킷제주 고정 위치 중심 반경 2km만 안내, 음식점은 500m 도보권·기타 1.5km 기준.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포지셔닝: 대형 플랫폼은 방대해 내 숙소 중심 정보가 어렵다 / 게스트하우스 예약앱은 예약만 / 버킷제주는 투숙객·초지역. 지금 버킷제주 → 게스트하우스 전용 확장 → 게스트하우스 가격비교. 발표자 PL/M3.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배포된 라이브 데모 캡처. 가상 투숙객 30명·Join 60건으로 배포·테스트 완료. 발표자 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슬라이드. 이 다음부터 M1→PL→M2→M3 순으로 발표자 넘김.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[M1] 데이터. 실좌표 21곳 + 파이프라인 순서 규칙. 발표자 M1.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[PL] RAG 파이프라인 + 평가 골드셋.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[M2] 백엔드 API. 발표자 M2.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[M3] 프론트엔드. before/after(가짜→실좌표) 강조. 발표자 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방식 비교(자체 문항, 보조). 하이브리드=개선 방향. 실제 시스템 품질은 다음 장 RAGAS. 발표자 PL/M3.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RAGAS 경과(PL 다겸): baseline→v1→v2→멀티쿼리 최종. Context Recall 0.196→0.429(2배↑), Relevancy 0.268→0.319, Precision 0.426→0.440, Faithfulness 0.531→0.514(유지). 프롬프트 규칙+FAQ/POI 컬렉션 분리+Multi-Query 적용. 점수는 팀 자체 라벨링(골드셋) 기준. 향후: 이용자 참여형 지식 파이프라인. 발표자 PL/M3.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실제 응답 예시(eval_results_detailed 기준). 근거 있는 정확 응답 + 데이터 없으면 폴백/거부(환각 방지). 데모: 웹은 지도·Join 라이브, RAG 엔진은 이 실제 응답/백엔드 CLI로 시연. 프론트 AI탭↔RAG 연결은 향후. 발표자 PL/M2.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상용화 우선순위 + 수익. 스폰서 플레이스 파일럿.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향후 전략 4방면: 지식스키마(이용자 참여형 파이프라인)·RAG(하이브리드·폴백·출처)·백엔드(정식배포·영속·자동화)·프론트(RAG연결·리뷰·가격비교). 발표자 PL/M3.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· Q&amp;A. QR로 실제 라이브 데모 접속 시연 — 컨셉이 아니라 배포된 서비스임을 증명. 발표자 전원.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부록: RAGAS 4지표 버전별 추이. 리콜 최종 급상승, precision/faithfulness는 트레이드오프.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부록: POI 21곳 분석. 음식점 다수, 대부분 600m 이내(9)+300~600m(7), 관광은 1~1.5km. 전부 2km 이내. 발표자 M1/M3.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부록: 함정 질문 8개(환각 방지). 유형 5종. 프롬프트 규칙으로 확신형 오답→불확실성 인정. Faithfulness 근거. 발표자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554480" cy="1554480"/>
          </a:xfrm>
          <a:prstGeom prst="ellipse">
            <a:avLst/>
          </a:prstGeom>
          <a:solidFill>
            <a:srgbClr val="FFD768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65760"/>
            <a:ext cx="2103120" cy="2103120"/>
          </a:xfrm>
          <a:prstGeom prst="ellipse">
            <a:avLst/>
          </a:prstGeom>
          <a:solidFill>
            <a:srgbClr val="FFD76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5394960"/>
            <a:ext cx="457200" cy="457200"/>
          </a:xfrm>
          <a:prstGeom prst="ellipse">
            <a:avLst/>
          </a:prstGeom>
          <a:solidFill>
            <a:srgbClr val="FF704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669280"/>
            <a:ext cx="320040" cy="320040"/>
          </a:xfrm>
          <a:prstGeom prst="ellipse">
            <a:avLst/>
          </a:prstGeom>
          <a:solidFill>
            <a:srgbClr val="FF704F"/>
          </a:solidFill>
          <a:ln/>
        </p:spPr>
      </p:sp>
      <p:sp>
        <p:nvSpPr>
          <p:cNvPr id="6" name="Shape 4"/>
          <p:cNvSpPr/>
          <p:nvPr/>
        </p:nvSpPr>
        <p:spPr>
          <a:xfrm rot="-180000">
            <a:off x="548640" y="548640"/>
            <a:ext cx="822960" cy="8229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🍊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55448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 JEJU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근거리 정보 서비스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3794760" cy="566928"/>
          </a:xfrm>
          <a:prstGeom prst="roundRect">
            <a:avLst>
              <a:gd name="adj" fmla="val 16129"/>
            </a:avLst>
          </a:prstGeom>
          <a:solidFill>
            <a:srgbClr val="FF70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48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제주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온 게스트하우스 투숙객을 위한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근처 발견</a:t>
            </a:r>
            <a:pPr indent="0" marL="0">
              <a:buNone/>
            </a:pPr>
            <a:r>
              <a:rPr lang="en-US" sz="2400" dirty="0">
                <a:solidFill>
                  <a:srgbClr val="88A6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pPr indent="0" marL="0">
              <a:buNone/>
            </a:pPr>
            <a:r>
              <a:rPr lang="en-US" sz="24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 동행(Join)</a:t>
            </a:r>
            <a:pPr indent="0" marL="0">
              <a:buNone/>
            </a:pPr>
            <a:r>
              <a:rPr lang="en-US" sz="2400" dirty="0">
                <a:solidFill>
                  <a:srgbClr val="88A6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+  </a:t>
            </a:r>
            <a:pPr indent="0" marL="0">
              <a:buNone/>
            </a:pPr>
            <a:r>
              <a:rPr lang="en-US" sz="24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안내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DLthon TEAM 3</a:t>
            </a:r>
            <a:pPr indent="0" marL="0">
              <a:buNone/>
            </a:pPr>
            <a:r>
              <a:rPr lang="en-US" sz="1300" dirty="0">
                <a:solidFill>
                  <a:srgbClr val="A8C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PL · M1 · M2 · M3      발표 2026-08-11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594360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bucket-jeju-join.ep01-sleepwar.chatgpt.site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서비스인가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D8EEE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주변 정보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맛집·편의점·해변·주차가 여러 앱에 흩어져 '지금 걸어갈 곳'을 빠르게 못 찾음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1801368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E7ECE5"/>
          </a:solidFill>
          <a:ln/>
        </p:spPr>
      </p:sp>
      <p:sp>
        <p:nvSpPr>
          <p:cNvPr id="11" name="Shape 9"/>
          <p:cNvSpPr/>
          <p:nvPr/>
        </p:nvSpPr>
        <p:spPr>
          <a:xfrm>
            <a:off x="4270248" y="173736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057400"/>
            <a:ext cx="868680" cy="868680"/>
          </a:xfrm>
          <a:prstGeom prst="ellipse">
            <a:avLst/>
          </a:prstGeom>
          <a:solidFill>
            <a:srgbClr val="D8EEE7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057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90288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혼밥·동행의 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0288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여행자는 잠깐 함께할 동행을 구하기 어려움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1856" y="1801368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991856" y="173736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2057400"/>
            <a:ext cx="868680" cy="868680"/>
          </a:xfrm>
          <a:prstGeom prst="ellipse">
            <a:avLst/>
          </a:prstGeom>
          <a:solidFill>
            <a:srgbClr val="D8EEE7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2057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11896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 특화 정보 부족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11896" y="3520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 반경·이용안내가 정리돼 있지 않아 매번 검색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56048"/>
            <a:ext cx="11091672" cy="1234440"/>
          </a:xfrm>
          <a:prstGeom prst="roundRect">
            <a:avLst>
              <a:gd name="adj" fmla="val 11852"/>
            </a:avLst>
          </a:prstGeom>
          <a:solidFill>
            <a:srgbClr val="E7ECE5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11852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8920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니즈: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관광안내 26.1% · 귀국 후 연락유지 19.3% · 공동투어 필요성 공감 </a:t>
            </a:r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정보 제공 + 순간 동행 수요가 분명하다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2km 안의 모든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FF70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근처 발견 (RAG)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자연어로 물으면 의미·혼밥·거리 3신호로 재랭킹해 가까운 순 추천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0248" y="1847088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E7ECE5"/>
          </a:solidFill>
          <a:ln/>
        </p:spPr>
      </p:sp>
      <p:sp>
        <p:nvSpPr>
          <p:cNvPr id="11" name="Shape 9"/>
          <p:cNvSpPr/>
          <p:nvPr/>
        </p:nvSpPr>
        <p:spPr>
          <a:xfrm>
            <a:off x="4270248" y="1783080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10312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1F695A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90288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(순간 동행)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0288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밥·투어 등 짧은 동행 모집, 모집중·모집완료·일정완료 3상태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91856" y="1847088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991856" y="1783080"/>
            <a:ext cx="3474720" cy="306324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210312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FFD768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11896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안내 (FAQ)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11896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와이파이·이용시간·규칙 등 숙소 문의 즉시 응답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4297680" cy="45720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74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버킷제주 고정 위치 · 반경 2km만 안내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50749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음식점 500m 도보권</a:t>
            </a:r>
            <a:pPr indent="0" marL="0"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기타 시설 1.5km  ·  카카오 실좌표 · ChromaDB 벡터검색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레퍼런스 — 게스트하우스에 집중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1F69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숙박·여행 플랫폼은 데이터가 방대해 '내가 지금 묵는 곳' 중심 정보를 찾기 어렵다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511296" cy="3246120"/>
          </a:xfrm>
          <a:prstGeom prst="roundRect">
            <a:avLst>
              <a:gd name="adj" fmla="val 4507"/>
            </a:avLst>
          </a:prstGeom>
          <a:solidFill>
            <a:srgbClr val="E7ECE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94560"/>
            <a:ext cx="3511296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23160"/>
            <a:ext cx="3054096" cy="457200"/>
          </a:xfrm>
          <a:prstGeom prst="roundRect">
            <a:avLst>
              <a:gd name="adj" fmla="val 50000"/>
            </a:avLst>
          </a:prstGeom>
          <a:solidFill>
            <a:srgbClr val="D8EEE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2316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숙박·여행 플랫폼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3580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야놀자 · 여기어때 · 에어비앤비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구글맵 · 트리플 · 마이리얼트립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방대한 숙소·POI·예약 중심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(에어비앤비 900만 숙소·200개국)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내 숙소 중심 정보 찾기 어려움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4256" y="2258568"/>
            <a:ext cx="3511296" cy="3246120"/>
          </a:xfrm>
          <a:prstGeom prst="roundRect">
            <a:avLst>
              <a:gd name="adj" fmla="val 4507"/>
            </a:avLst>
          </a:prstGeom>
          <a:solidFill>
            <a:srgbClr val="E7EC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4256" y="2194560"/>
            <a:ext cx="3511296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2423160"/>
            <a:ext cx="3054096" cy="457200"/>
          </a:xfrm>
          <a:prstGeom prst="roundRect">
            <a:avLst>
              <a:gd name="adj" fmla="val 50000"/>
            </a:avLst>
          </a:prstGeom>
          <a:solidFill>
            <a:srgbClr val="D8EEE7"/>
          </a:solidFill>
          <a:ln/>
        </p:spPr>
      </p:sp>
      <p:sp>
        <p:nvSpPr>
          <p:cNvPr id="17" name="Text 15"/>
          <p:cNvSpPr/>
          <p:nvPr/>
        </p:nvSpPr>
        <p:spPr>
          <a:xfrm>
            <a:off x="4562856" y="242316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예약 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08576" y="303580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Hostelworld · 게딱지 · 한인텔 · 룸앤베드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376732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'예약'에 초점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08576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투숙 중 정보·커뮤니티는 없음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19872" y="2258568"/>
            <a:ext cx="3511296" cy="3246120"/>
          </a:xfrm>
          <a:prstGeom prst="roundRect">
            <a:avLst>
              <a:gd name="adj" fmla="val 4507"/>
            </a:avLst>
          </a:prstGeom>
          <a:solidFill>
            <a:srgbClr val="E7ECE5"/>
          </a:solidFill>
          <a:ln/>
        </p:spPr>
      </p:sp>
      <p:sp>
        <p:nvSpPr>
          <p:cNvPr id="22" name="Shape 20"/>
          <p:cNvSpPr/>
          <p:nvPr/>
        </p:nvSpPr>
        <p:spPr>
          <a:xfrm>
            <a:off x="8119872" y="2194560"/>
            <a:ext cx="3511296" cy="3246120"/>
          </a:xfrm>
          <a:prstGeom prst="roundRect">
            <a:avLst>
              <a:gd name="adj" fmla="val 4507"/>
            </a:avLst>
          </a:prstGeom>
          <a:solidFill>
            <a:srgbClr val="1F695A"/>
          </a:solidFill>
          <a:ln/>
        </p:spPr>
      </p:sp>
      <p:sp>
        <p:nvSpPr>
          <p:cNvPr id="23" name="Shape 21"/>
          <p:cNvSpPr/>
          <p:nvPr/>
        </p:nvSpPr>
        <p:spPr>
          <a:xfrm>
            <a:off x="8348472" y="2423160"/>
            <a:ext cx="3054096" cy="45720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24" name="Text 22"/>
          <p:cNvSpPr/>
          <p:nvPr/>
        </p:nvSpPr>
        <p:spPr>
          <a:xfrm>
            <a:off x="8348472" y="242316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제주 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94192" y="303580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한정 · 내가 묵는 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94192" y="376732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2km 근거리 발견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커뮤니티 + AI 안내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94192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투숙객만을 위한 초지역 서비스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687568"/>
            <a:ext cx="11091672" cy="777240"/>
          </a:xfrm>
          <a:prstGeom prst="roundRect">
            <a:avLst>
              <a:gd name="adj" fmla="val 18824"/>
            </a:avLst>
          </a:prstGeom>
          <a:solidFill>
            <a:srgbClr val="E7ECE5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8824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742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로드맵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60167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· 버킷제주 게스트하우스</a:t>
            </a:r>
            <a:pPr indent="0" marL="0">
              <a:buNone/>
            </a:pPr>
            <a:r>
              <a:rPr lang="en-US" sz="12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→    </a:t>
            </a:r>
            <a:pPr indent="0" marL="0">
              <a:buNone/>
            </a:pPr>
            <a:r>
              <a:rPr lang="en-US" sz="12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전용 서비스로 확장</a:t>
            </a:r>
            <a:pPr indent="0" marL="0">
              <a:buNone/>
            </a:pPr>
            <a:r>
              <a:rPr lang="en-US" sz="12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→    </a:t>
            </a:r>
            <a:pPr indent="0" marL="0">
              <a:buNone/>
            </a:pPr>
            <a:r>
              <a:rPr lang="en-US" sz="125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게스트하우스 가격비교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8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배포 · 테스트 완료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1F69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실제 배포·테스트 완료   </a:t>
            </a:r>
            <a:pPr indent="0" marL="0">
              <a:buNone/>
            </a:pPr>
            <a:r>
              <a:rPr lang="en-US" sz="13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투숙객 30명 · Join 60건으로 라이브 사이트에서 배포·동작 검증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06424" y="2523744"/>
            <a:ext cx="4370832" cy="3383280"/>
          </a:xfrm>
          <a:prstGeom prst="roundRect">
            <a:avLst>
              <a:gd name="adj" fmla="val 1622"/>
            </a:avLst>
          </a:prstGeom>
          <a:solidFill>
            <a:srgbClr val="CFDDD6"/>
          </a:solidFill>
          <a:ln/>
        </p:spPr>
      </p:sp>
      <p:pic>
        <p:nvPicPr>
          <p:cNvPr id="8" name="Image 0" descr="/tmp/out/demo_j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68880"/>
            <a:ext cx="4370832" cy="3383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51560" y="2468880"/>
            <a:ext cx="4370832" cy="3383280"/>
          </a:xfrm>
          <a:prstGeom prst="roundRect">
            <a:avLst>
              <a:gd name="adj" fmla="val 1622"/>
            </a:avLst>
          </a:prstGeom>
          <a:ln w="12700">
            <a:solidFill>
              <a:srgbClr val="CFE2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2048256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203B36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04825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화면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27064" y="2523744"/>
            <a:ext cx="4846320" cy="3383280"/>
          </a:xfrm>
          <a:prstGeom prst="roundRect">
            <a:avLst>
              <a:gd name="adj" fmla="val 1622"/>
            </a:avLst>
          </a:prstGeom>
          <a:solidFill>
            <a:srgbClr val="CFDDD6"/>
          </a:solidFill>
          <a:ln/>
        </p:spPr>
      </p:sp>
      <p:pic>
        <p:nvPicPr>
          <p:cNvPr id="13" name="Image 1" descr="/tmp/out/demo_accou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68880"/>
            <a:ext cx="4846320" cy="33832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0" y="2468880"/>
            <a:ext cx="4846320" cy="3383280"/>
          </a:xfrm>
          <a:prstGeom prst="roundRect">
            <a:avLst>
              <a:gd name="adj" fmla="val 1622"/>
            </a:avLst>
          </a:prstGeom>
          <a:ln w="12700">
            <a:solidFill>
              <a:srgbClr val="CFE2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2048256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203B36"/>
          </a:solidFill>
          <a:ln/>
        </p:spPr>
      </p:sp>
      <p:sp>
        <p:nvSpPr>
          <p:cNvPr id="16" name="Text 12"/>
          <p:cNvSpPr/>
          <p:nvPr/>
        </p:nvSpPr>
        <p:spPr>
          <a:xfrm>
            <a:off x="6172200" y="2048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30명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6144768"/>
            <a:ext cx="11091672" cy="41148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61447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라이브: bucket-jeju-join.ep01-sleepwar.chatgpt.site   ·   카테고리 필터 · 모집중/모집완료 · 날짜별 분포 동작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&amp; 역할 — 순차 분업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29968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1051560" cy="50292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039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 수집·정제 (카카오 21곳)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· solo_friendly·설명 생성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320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95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10712" y="2029968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E7E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0712" y="1965960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5032" y="2240280"/>
            <a:ext cx="1051560" cy="50292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14" name="Text 12"/>
          <p:cNvSpPr/>
          <p:nvPr/>
        </p:nvSpPr>
        <p:spPr>
          <a:xfrm>
            <a:off x="3685032" y="2240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85032" y="29260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지식베이스·RAG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85032" y="3429000"/>
            <a:ext cx="2039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계약·KB 스키마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 · 평가 골드셋 · 통합/PR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71032" y="1965960"/>
            <a:ext cx="320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95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72784" y="2029968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E7EC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2784" y="1965960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2240280"/>
            <a:ext cx="1051560" cy="502920"/>
          </a:xfrm>
          <a:prstGeom prst="roundRect">
            <a:avLst>
              <a:gd name="adj" fmla="val 50000"/>
            </a:avLst>
          </a:prstGeom>
          <a:solidFill>
            <a:srgbClr val="203B36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2240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47104" y="29260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47104" y="3429000"/>
            <a:ext cx="2039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/nearby-search RAG API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하버사인 거리 · 2km 반경 · 재랭킹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33104" y="1965960"/>
            <a:ext cx="320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95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34856" y="2029968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E7ECE5"/>
          </a:solidFill>
          <a:ln/>
        </p:spPr>
      </p:sp>
      <p:sp>
        <p:nvSpPr>
          <p:cNvPr id="26" name="Shape 24"/>
          <p:cNvSpPr/>
          <p:nvPr/>
        </p:nvSpPr>
        <p:spPr>
          <a:xfrm>
            <a:off x="9134856" y="1965960"/>
            <a:ext cx="2542032" cy="320040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09176" y="2240280"/>
            <a:ext cx="1051560" cy="50292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28" name="Text 26"/>
          <p:cNvSpPr/>
          <p:nvPr/>
        </p:nvSpPr>
        <p:spPr>
          <a:xfrm>
            <a:off x="9409176" y="22402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09176" y="29260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409176" y="3429000"/>
            <a:ext cx="2039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웹데모 · 2km 지도 · 카테고리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3상태 · D1·Drizzle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458968"/>
            <a:ext cx="11091672" cy="777240"/>
          </a:xfrm>
          <a:prstGeom prst="roundRect">
            <a:avLst>
              <a:gd name="adj" fmla="val 18824"/>
            </a:avLst>
          </a:prstGeom>
          <a:solidFill>
            <a:srgbClr val="E7ECE5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8824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→ 지식베이스/RAG → 백엔드 → 프론트  </a:t>
            </a:r>
            <a:pPr indent="0" marL="0">
              <a:buNone/>
            </a:pPr>
            <a:r>
              <a:rPr lang="en-US" sz="13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파이프라인으로 이어지는 분업, PL이 계약·통합을 오케스트레이션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[M1]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정제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3383280" cy="2011680"/>
          </a:xfrm>
          <a:prstGeom prst="roundRect">
            <a:avLst>
              <a:gd name="adj" fmla="val 7273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38328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collect_pois.py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로컬 수집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정류장 매핑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50208" y="1920240"/>
            <a:ext cx="320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95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70248" y="1984248"/>
            <a:ext cx="3383280" cy="2011680"/>
          </a:xfrm>
          <a:prstGeom prst="roundRect">
            <a:avLst>
              <a:gd name="adj" fmla="val 7273"/>
            </a:avLst>
          </a:prstGeom>
          <a:solidFill>
            <a:srgbClr val="E7E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0248" y="1920240"/>
            <a:ext cx="338328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2194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84648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json_to_csv.py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44568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변환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category_norm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71816" y="1920240"/>
            <a:ext cx="320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95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991856" y="1984248"/>
            <a:ext cx="3383280" cy="2011680"/>
          </a:xfrm>
          <a:prstGeom prst="roundRect">
            <a:avLst>
              <a:gd name="adj" fmla="val 7273"/>
            </a:avLst>
          </a:prstGeom>
          <a:solidFill>
            <a:srgbClr val="E7ECE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91856" y="1920240"/>
            <a:ext cx="338328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6176" y="21945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21" name="Text 19"/>
          <p:cNvSpPr/>
          <p:nvPr/>
        </p:nvSpPr>
        <p:spPr>
          <a:xfrm>
            <a:off x="8266176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06256" y="2212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generate_description.py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66176" y="2880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+ solo_friendly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70248"/>
            <a:ext cx="5394960" cy="1920240"/>
          </a:xfrm>
          <a:prstGeom prst="roundRect">
            <a:avLst>
              <a:gd name="adj" fmla="val 7619"/>
            </a:avLst>
          </a:prstGeom>
          <a:solidFill>
            <a:srgbClr val="E7E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7619"/>
            </a:avLst>
          </a:prstGeom>
          <a:solidFill>
            <a:srgbClr val="1F695A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370832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21곳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2560320" y="4462272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카카오맵 실좌표로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검수한 실제 장소(POI)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062472" y="4270248"/>
            <a:ext cx="5577840" cy="1920240"/>
          </a:xfrm>
          <a:prstGeom prst="roundRect">
            <a:avLst>
              <a:gd name="adj" fmla="val 7619"/>
            </a:avLst>
          </a:prstGeom>
          <a:solidFill>
            <a:srgbClr val="E7ECE5"/>
          </a:solidFill>
          <a:ln/>
        </p:spPr>
      </p:sp>
      <p:sp>
        <p:nvSpPr>
          <p:cNvPr id="29" name="Shape 27"/>
          <p:cNvSpPr/>
          <p:nvPr/>
        </p:nvSpPr>
        <p:spPr>
          <a:xfrm>
            <a:off x="6062472" y="4206240"/>
            <a:ext cx="557784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재실행 순서 고정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3단계(설명 생성) 후 2단계를 재실행하면 solo_friendly가 유실됨 → 재수집 시 반드시 1→2→3→4 전체 순서로 재실행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[PL] 지식베이스 ·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→ 검색 → 재랭킹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29968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659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임베딩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(text-embedding-3-small)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15184" y="19659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95A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029968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E7ECE5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965960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9659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10개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9744" y="19659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95A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2029968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E7ECE5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965960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9659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혼밥 친화도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04304" y="19659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95A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2029968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1965960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42048" y="19659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거리(하버사인)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98864" y="196596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95A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0" y="2029968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E7ECE5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1965960"/>
            <a:ext cx="2084832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1965960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(설명·출처)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21608"/>
            <a:ext cx="5394960" cy="2468880"/>
          </a:xfrm>
          <a:prstGeom prst="roundRect">
            <a:avLst>
              <a:gd name="adj" fmla="val 5926"/>
            </a:avLst>
          </a:prstGeom>
          <a:solidFill>
            <a:srgbClr val="E7ECE5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지식베이스 &amp; 인덱싱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POI → 자연어 문서화 → OpenAI 임베딩 → ChromaDB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숙소 좌표 단일 정의(geo.py) — 값 불일치 원천 차단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build_index.py: 거리 계산 + 문서화 + 인덱싱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62472" y="3721608"/>
            <a:ext cx="5577840" cy="2468880"/>
          </a:xfrm>
          <a:prstGeom prst="roundRect">
            <a:avLst>
              <a:gd name="adj" fmla="val 5926"/>
            </a:avLst>
          </a:prstGeom>
          <a:solidFill>
            <a:srgbClr val="E7ECE5"/>
          </a:solidFill>
          <a:ln/>
        </p:spPr>
      </p:sp>
      <p:sp>
        <p:nvSpPr>
          <p:cNvPr id="28" name="Shape 26"/>
          <p:cNvSpPr/>
          <p:nvPr/>
        </p:nvSpPr>
        <p:spPr>
          <a:xfrm>
            <a:off x="6062472" y="3657600"/>
            <a:ext cx="5577840" cy="2468880"/>
          </a:xfrm>
          <a:prstGeom prst="roundRect">
            <a:avLst>
              <a:gd name="adj" fmla="val 5926"/>
            </a:avLst>
          </a:prstGeom>
          <a:solidFill>
            <a:srgbClr val="1F695A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골드셋 (환각 방지)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82512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gold_qa 20  ·  gold_matching 15  ·  trap 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82512" y="4800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안 된 정보는 단정 금지, 함정 질문으로 과장·환각 검증. 신뢰도 점수·할루시네이션율 정의.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[M2] 백엔드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근거리 검색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659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/nearby-search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21854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질의 → 검색·재랭킹 → 상위 결과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E7ECE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79192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6207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하버사인 거리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3081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 기준 거리 계산 (geo.py 공용)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575304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75818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6667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2km 고정 반경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258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반경 무시, 항상 2000m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35424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E7ECE5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71416"/>
            <a:ext cx="54864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65429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5628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매핑·빈결과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25880" y="4873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 테이블 · 0건도 HTTP 200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1847088"/>
            <a:ext cx="5285232" cy="3566160"/>
          </a:xfrm>
          <a:prstGeom prst="roundRect">
            <a:avLst>
              <a:gd name="adj" fmla="val 4103"/>
            </a:avLst>
          </a:prstGeom>
          <a:solidFill>
            <a:srgbClr val="E7ECE5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1783080"/>
            <a:ext cx="5285232" cy="3566160"/>
          </a:xfrm>
          <a:prstGeom prst="roundRect">
            <a:avLst>
              <a:gd name="adj" fmla="val 4103"/>
            </a:avLst>
          </a:prstGeom>
          <a:solidFill>
            <a:srgbClr val="183F37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/nearby-search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29400" y="24231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"result_count": 3,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"nearby_activities": 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"name": "대정쌍둥이식당",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"category": "음식점",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"distance_m": 102,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"solo_friendly": true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504688"/>
            <a:ext cx="11091672" cy="685800"/>
          </a:xfrm>
          <a:prstGeom prst="roundRect">
            <a:avLst>
              <a:gd name="adj" fmla="val 21333"/>
            </a:avLst>
          </a:prstGeom>
          <a:solidFill>
            <a:srgbClr val="E7ECE5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21333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0.0~1.0 · 추천 이유는 거리+혼자 여행 프로필 반영 · </a:t>
            </a:r>
            <a:pPr indent="0" marL="0">
              <a:buNone/>
            </a:pPr>
            <a:r>
              <a:rPr lang="en-US" sz="12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안 된 정보엔 '~일 것 같다' 표현 금지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[M3] 프론트엔드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·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5486400" cy="2148840"/>
          </a:xfrm>
          <a:prstGeom prst="roundRect">
            <a:avLst>
              <a:gd name="adj" fmla="val 6809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2148840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근처 발견 지도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반경 2km 원형 가이드(정보 제공 경계)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카카오 실좌표 검수 마커 — 바다 위 오표기 제거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카테고리 필터: 식당·편의점·해변·관광·주차장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78808"/>
            <a:ext cx="5486400" cy="2011680"/>
          </a:xfrm>
          <a:prstGeom prst="roundRect">
            <a:avLst>
              <a:gd name="adj" fmla="val 7273"/>
            </a:avLst>
          </a:prstGeom>
          <a:solidFill>
            <a:srgbClr val="E7ECE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114800"/>
            <a:ext cx="548640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&amp; 계정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모집중 · 모집완료 · 일정완료 3상태 분리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예정/지난 일정 구분, 메인 최신 노출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닉네임 변경 · Cloudflare D1·Drizzle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847088"/>
            <a:ext cx="5285232" cy="4343400"/>
          </a:xfrm>
          <a:prstGeom prst="roundRect">
            <a:avLst>
              <a:gd name="adj" fmla="val 3368"/>
            </a:avLst>
          </a:prstGeom>
          <a:solidFill>
            <a:srgbClr val="E7ECE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1783080"/>
            <a:ext cx="5285232" cy="4343400"/>
          </a:xfrm>
          <a:prstGeom prst="roundRect">
            <a:avLst>
              <a:gd name="adj" fmla="val 3368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전 → 검수 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2487168"/>
            <a:ext cx="4663440" cy="1600200"/>
          </a:xfrm>
          <a:prstGeom prst="roundRect">
            <a:avLst>
              <a:gd name="adj" fmla="val 9143"/>
            </a:avLst>
          </a:prstGeom>
          <a:solidFill>
            <a:srgbClr val="E7ECE5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423160"/>
            <a:ext cx="466344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606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FD0C2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3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30632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근사 좌표 → 마커가 바다 위에 표기되는 오류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4270248"/>
            <a:ext cx="4663440" cy="1737360"/>
          </a:xfrm>
          <a:prstGeom prst="roundRect">
            <a:avLst>
              <a:gd name="adj" fmla="val 8421"/>
            </a:avLst>
          </a:prstGeom>
          <a:solidFill>
            <a:srgbClr val="E7ECE5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206240"/>
            <a:ext cx="466344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4389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DE6D7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03720" y="48463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실좌표 21곳으로 검수·교체 → 실제 위치·거리 정확, 카테고리 마커 정상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 실험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방식 — 어휘 vs 하이브리드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3017520" cy="2103120"/>
          </a:xfrm>
          <a:prstGeom prst="roundRect">
            <a:avLst>
              <a:gd name="adj" fmla="val 6957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017520" cy="2103120"/>
          </a:xfrm>
          <a:prstGeom prst="roundRect">
            <a:avLst>
              <a:gd name="adj" fmla="val 6957"/>
            </a:avLst>
          </a:prstGeom>
          <a:solidFill>
            <a:srgbClr val="1F695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385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2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= 고유명사(25시·CU)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= 의미(담배↔흡연)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794760" y="1737360"/>
          <a:ext cx="7863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90288"/>
            <a:ext cx="11091672" cy="1600200"/>
          </a:xfrm>
          <a:prstGeom prst="roundRect">
            <a:avLst>
              <a:gd name="adj" fmla="val 9143"/>
            </a:avLst>
          </a:prstGeom>
          <a:solidFill>
            <a:srgbClr val="E7ECE5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개선 방향  (→ RAGAS 개선 3순위)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어휘(BM25)는 "담배↔흡연" 같은 동의어를 못 잡아 하락 → </a:t>
            </a:r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BM25(고유명사) + 임베딩(의미)을 RRF로 합친 하이브리드가 검색 개선 후보.  </a:t>
            </a:r>
            <a:pPr indent="0" marL="0">
              <a:lnSpc>
                <a:spcPct val="122000"/>
              </a:lnSpc>
              <a:buNone/>
            </a:pPr>
            <a:r>
              <a:rPr lang="en-US" sz="1250" i="1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위 수치는 자체 29문항 검색 도달률(Recall@3) — 시스템 전체 품질은 다음 장 RAGAS 진단 참조.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· 경과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RAGAS: 베이스라인 → 멀티쿼리 최종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36192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Recall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195681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0.196</a:t>
            </a:r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3A9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0.429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9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리콜 2배 이상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E7ECE5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1536192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459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Relevancy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0440" y="195681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0.268</a:t>
            </a:r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3A9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0.319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20440" y="25786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9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개선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E7ECE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536192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459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Precision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195681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0.426</a:t>
            </a:r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3A9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0.440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09360" y="25786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9D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개선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600200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E7EC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915400" y="1536192"/>
            <a:ext cx="2615184" cy="1572768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6459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Faithfulness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098280" y="195681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0.531</a:t>
            </a:r>
            <a:pPr indent="0" marL="0">
              <a:buNone/>
            </a:pPr>
            <a:r>
              <a:rPr lang="en-US" sz="19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1900" b="1" dirty="0">
                <a:solidFill>
                  <a:srgbClr val="E0A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098280" y="257860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A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유지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200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QA 20 + 함정 8 = 28문항 · RAGAS 4지표 · 팀 자체 라벨링(골드셋) 기준 · 오프라인 파이썬 RAG 파이프라인 기준 · Baseline→v1→v2→멀티쿼리 최종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630168"/>
            <a:ext cx="5577840" cy="2724912"/>
          </a:xfrm>
          <a:prstGeom prst="roundRect">
            <a:avLst>
              <a:gd name="adj" fmla="val 5369"/>
            </a:avLst>
          </a:prstGeom>
          <a:solidFill>
            <a:srgbClr val="E7ECE5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566160"/>
            <a:ext cx="5577840" cy="2724912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고쳤나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2960" y="4114800"/>
            <a:ext cx="310896" cy="256032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1480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4087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규칙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25296" y="43708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모르면 '모른다' · 질문 관련 정보만 → 할루시네이션·군더더기 감소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828032"/>
            <a:ext cx="310896" cy="256032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8280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25296" y="4800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FAQ·POI 컬렉션 분리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25296" y="508406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 FAQ와 주변 POI 혼재 제거 → 오검색 해소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5541264"/>
            <a:ext cx="310896" cy="256032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5412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25296" y="5513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Multi-Query 검색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25296" y="57972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다각도 확장 → Context Recall 0.196→0.429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3630168"/>
            <a:ext cx="4325112" cy="2724912"/>
          </a:xfrm>
          <a:prstGeom prst="roundRect">
            <a:avLst>
              <a:gd name="adj" fmla="val 5369"/>
            </a:avLst>
          </a:prstGeom>
          <a:solidFill>
            <a:srgbClr val="E7ECE5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3566160"/>
            <a:ext cx="4325112" cy="2724912"/>
          </a:xfrm>
          <a:prstGeom prst="roundRect">
            <a:avLst>
              <a:gd name="adj" fmla="val 5369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다음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589520" y="41148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커버리지 갭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약국·병원·마트는 미인덱스(도보권 밖). 차량 이동권까지 확장 시 추가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89520" y="49834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추가 개선 여지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하이브리드(BM25+임베딩·RRF) + 근거 없으면 거부하는 폴백 게이트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89520" y="5852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상세 전략은 '향후 전략' 슬라이드 참조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실제 응답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인덱싱한 자료로, 이렇게 답합니다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36776"/>
            <a:ext cx="11091672" cy="1325880"/>
          </a:xfrm>
          <a:prstGeom prst="roundRect">
            <a:avLst>
              <a:gd name="adj" fmla="val 11034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72768"/>
            <a:ext cx="11091672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92224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9222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7739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편의점은 어디야?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00200" y="215798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서귀최남단해안로점 — 숙소에서 약 271m. 해안로 접근성이 좋고 편의용품이 구비된 CU. 인근 정류장은 운진항, 도보 약 64m.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11091672" cy="1325880"/>
          </a:xfrm>
          <a:prstGeom prst="roundRect">
            <a:avLst>
              <a:gd name="adj" fmla="val 11034"/>
            </a:avLst>
          </a:prstGeom>
          <a:solidFill>
            <a:srgbClr val="E7ECE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54096"/>
            <a:ext cx="11091672" cy="1325880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273552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735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2552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혼밥할 수 있는 곳이 있어?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600200" y="36393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영희네휴게점 — 가정식 한끼를 즐길 수 있는 휴게소 식당, 숙소에서 약 293m. 혼자 식사하기 적합합니다.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91672" cy="1325880"/>
          </a:xfrm>
          <a:prstGeom prst="roundRect">
            <a:avLst>
              <a:gd name="adj" fmla="val 11034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35424"/>
            <a:ext cx="11091672" cy="1325880"/>
          </a:xfrm>
          <a:prstGeom prst="roundRect">
            <a:avLst>
              <a:gd name="adj" fmla="val 11034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754880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548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47365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약국이 어디야?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00200" y="51206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죄송합니다, 현재 안내 정보에는 약국 데이터가 없습니다. 정확한 안내를 위해 프런트 데스크에 문의해 주세요.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64040" y="471830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47183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방지 · 없으면 거부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파이썬 RAG 파이프라인의 실제 응답 — 근거로 답하고, </a:t>
            </a:r>
            <a:pPr indent="0" marL="0">
              <a:buNone/>
            </a:pPr>
            <a:r>
              <a:rPr lang="en-US" sz="11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지어내지 않음</a:t>
            </a:r>
            <a:pPr indent="0" marL="0">
              <a:buNone/>
            </a:pPr>
            <a:r>
              <a:rPr lang="en-US" sz="1100" i="1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(라이브 웹데모는 배포 안정성 위해 동일 지식·규칙의 경량 Worker 구현)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 &amp; 수익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5486400" cy="4343400"/>
          </a:xfrm>
          <a:prstGeom prst="roundRect">
            <a:avLst>
              <a:gd name="adj" fmla="val 3368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 우선순위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· 독립 인증/법적 · 정식 인프라 · Join 안전장치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118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11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참여 DB 저장 · AI 질문 RAG 연결 · 방문객 리뷰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7548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A9D5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 · 애널리틱스 · 다국어·PWA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847088"/>
            <a:ext cx="5285232" cy="4343400"/>
          </a:xfrm>
          <a:prstGeom prst="roundRect">
            <a:avLst>
              <a:gd name="adj" fmla="val 3368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783080"/>
            <a:ext cx="5285232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2468880"/>
            <a:ext cx="457200" cy="457200"/>
          </a:xfrm>
          <a:prstGeom prst="ellipse">
            <a:avLst/>
          </a:prstGeom>
          <a:solidFill>
            <a:srgbClr val="FF704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2450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스폰서 플레이스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69480" y="2761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가장 적합 — 2km 내 업체 지도·상단 노출 (월정액/CPC)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3337560"/>
            <a:ext cx="457200" cy="457200"/>
          </a:xfrm>
          <a:prstGeom prst="ellipse">
            <a:avLst/>
          </a:prstGeom>
          <a:solidFill>
            <a:srgbClr val="D8EEE7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3319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어필리에이트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3630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배편·투어·숙박 예약 연동 수수료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4206240"/>
            <a:ext cx="457200" cy="457200"/>
          </a:xfrm>
          <a:prstGeom prst="ellipse">
            <a:avLst/>
          </a:prstGeom>
          <a:solidFill>
            <a:srgbClr val="D8EEE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4187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쿠폰·프로모션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69480" y="4498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전용 할인 사용 건당 수수료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0" y="5074920"/>
            <a:ext cx="457200" cy="457200"/>
          </a:xfrm>
          <a:prstGeom prst="ellipse">
            <a:avLst/>
          </a:prstGeom>
          <a:solidFill>
            <a:srgbClr val="D8EEE7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69480" y="5056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배너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69480" y="5367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확보 후 보조 수단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전략 — 지식스키마 · RAG · 백엔드 · 프론트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E7ECE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10512"/>
            <a:ext cx="868680" cy="502920"/>
          </a:xfrm>
          <a:prstGeom prst="roundRect">
            <a:avLst>
              <a:gd name="adj" fmla="val 29091"/>
            </a:avLst>
          </a:prstGeom>
          <a:solidFill>
            <a:srgbClr val="1F69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스키마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이용자 참여형 파이프라인 — 추가·수정 정보가 지식 스키마에 자동 반영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데이터 커버리지 확장(약국·병원·마트, 차량 이동권)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POI 자동 갱신(폐업·신규)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618488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E7ECE5"/>
          </a:solidFill>
          <a:ln/>
        </p:spPr>
      </p:sp>
      <p:sp>
        <p:nvSpPr>
          <p:cNvPr id="11" name="Shape 9"/>
          <p:cNvSpPr/>
          <p:nvPr/>
        </p:nvSpPr>
        <p:spPr>
          <a:xfrm>
            <a:off x="6245352" y="1554480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1810512"/>
            <a:ext cx="868680" cy="502920"/>
          </a:xfrm>
          <a:prstGeom prst="roundRect">
            <a:avLst>
              <a:gd name="adj" fmla="val 29091"/>
            </a:avLst>
          </a:prstGeom>
          <a:solidFill>
            <a:srgbClr val="FF70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8105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25512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4688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하이브리드 검색(BM25 + 임베딩 · RRF)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폴백 게이트 — 근거 없으면 '정보 없음'(환각 방지)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답변 출처 표시 · 재랭킹 고도화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검색 파라미터 튜닝(top_k) 반영 — 배포 버전 품질↑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05656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E7E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41648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297680"/>
            <a:ext cx="868680" cy="502920"/>
          </a:xfrm>
          <a:prstGeom prst="roundRect">
            <a:avLst>
              <a:gd name="adj" fmla="val 29091"/>
            </a:avLst>
          </a:prstGeom>
          <a:solidFill>
            <a:srgbClr val="203B3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297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9560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RAG API 정식 배포 + 프론트 실시간 연동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Join 참여·리뷰 D1 영속 저장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수집·인덱싱 파이프라인 자동화 · 모니터링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4105656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E7ECE5"/>
          </a:solidFill>
          <a:ln/>
        </p:spPr>
      </p:sp>
      <p:sp>
        <p:nvSpPr>
          <p:cNvPr id="23" name="Shape 21"/>
          <p:cNvSpPr/>
          <p:nvPr/>
        </p:nvSpPr>
        <p:spPr>
          <a:xfrm>
            <a:off x="6245352" y="4041648"/>
            <a:ext cx="5394960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9672" y="4297680"/>
            <a:ext cx="868680" cy="502920"/>
          </a:xfrm>
          <a:prstGeom prst="roundRect">
            <a:avLst>
              <a:gd name="adj" fmla="val 29091"/>
            </a:avLst>
          </a:prstGeom>
          <a:solidFill>
            <a:srgbClr val="3E7CB1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42976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25512" y="4297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C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392" y="495604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질문 탭 RAG 연결(출처 UI)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방문객 리뷰(방문 인증) · 다국어 · PWA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게스트하우스 가격비교 화면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3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4846320"/>
            <a:ext cx="2743200" cy="2743200"/>
          </a:xfrm>
          <a:prstGeom prst="ellipse">
            <a:avLst/>
          </a:prstGeom>
          <a:solidFill>
            <a:srgbClr val="1F695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FFD76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80000">
            <a:off x="548640" y="548640"/>
            <a:ext cx="822960" cy="8229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🍊</a:t>
            </a:r>
            <a:endParaRPr lang="en-US" sz="198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·  Q&amp;A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온 투숙객의 </a:t>
            </a:r>
            <a:pPr indent="0" marL="0">
              <a:buNone/>
            </a:pPr>
            <a:r>
              <a:rPr lang="en-US" sz="1900" b="1" dirty="0">
                <a:solidFill>
                  <a:srgbClr val="FFD7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2km</a:t>
            </a:r>
            <a:pPr indent="0" marL="0">
              <a:buNone/>
            </a:pPr>
            <a:r>
              <a:rPr lang="en-US" sz="1900" dirty="0">
                <a:solidFill>
                  <a:srgbClr val="D8EE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를, 버킷 제주가 안내합니다.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 아니라 — 지금 접속되는 실제 서비스입니다.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DLthon TEAM 3  </a:t>
            </a:r>
            <a:pPr indent="0" marL="0">
              <a:buNone/>
            </a:pPr>
            <a:r>
              <a:rPr lang="en-US" sz="1300" dirty="0">
                <a:solidFill>
                  <a:srgbClr val="A8C6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 · M1 · M2 · M3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66760" y="1508760"/>
            <a:ext cx="3291840" cy="4434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0" y="1755648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1F695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0" y="1755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실제 배포 완료</a:t>
            </a:r>
            <a:endParaRPr lang="en-US" sz="1200" dirty="0"/>
          </a:p>
        </p:txBody>
      </p:sp>
      <p:pic>
        <p:nvPicPr>
          <p:cNvPr id="13" name="Image 0" descr="/tmp/out/qr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377440"/>
            <a:ext cx="2194560" cy="21945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6676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스캔하면 바로 접속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36676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bucket-jeju-join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.ep01-sleepwar.chatgpt.site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 버전별 개선 추이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37360"/>
          <a:ext cx="69951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801368"/>
            <a:ext cx="3913632" cy="4343400"/>
          </a:xfrm>
          <a:prstGeom prst="roundRect">
            <a:avLst>
              <a:gd name="adj" fmla="val 3738"/>
            </a:avLst>
          </a:prstGeom>
          <a:solidFill>
            <a:srgbClr val="E7ECE5"/>
          </a:solidFill>
          <a:ln/>
        </p:spPr>
      </p:sp>
      <p:sp>
        <p:nvSpPr>
          <p:cNvPr id="6" name="Shape 3"/>
          <p:cNvSpPr/>
          <p:nvPr/>
        </p:nvSpPr>
        <p:spPr>
          <a:xfrm>
            <a:off x="7726680" y="1737360"/>
            <a:ext cx="3913632" cy="43434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01000" y="233172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23317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66760" y="2304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Recall 급상승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01000" y="26060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최종(멀티쿼리)에서 0.196→0.429 — 검색 리콜을 최우선으로 개선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01000" y="324612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13" name="Text 10"/>
          <p:cNvSpPr/>
          <p:nvPr/>
        </p:nvSpPr>
        <p:spPr>
          <a:xfrm>
            <a:off x="8001000" y="3246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36676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트레이드오프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01000" y="35204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Precision·Faithfulness는 v1·v2에서 정점 → 리콜과 상충, 최종은 리콜 우선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416052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0" y="41605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366760" y="4133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정량 평가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01000" y="4434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baseline→v1→v2→최종 4단계로 개선을 수치로 추적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01000" y="5074920"/>
            <a:ext cx="292608" cy="256032"/>
          </a:xfrm>
          <a:prstGeom prst="roundRect">
            <a:avLst>
              <a:gd name="adj" fmla="val 50000"/>
            </a:avLst>
          </a:prstGeom>
          <a:solidFill>
            <a:srgbClr val="FF704F"/>
          </a:solidFill>
          <a:ln/>
        </p:spPr>
      </p:sp>
      <p:sp>
        <p:nvSpPr>
          <p:cNvPr id="21" name="Text 18"/>
          <p:cNvSpPr/>
          <p:nvPr/>
        </p:nvSpPr>
        <p:spPr>
          <a:xfrm>
            <a:off x="8001000" y="50749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66760" y="5047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001000" y="53492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팀 자체 라벨링(골드셋) 기준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근거리 POI 데이터 분석 (21곳)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분포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1168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숙소 기준 거리 분포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01168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96128"/>
            <a:ext cx="11091672" cy="822960"/>
          </a:xfrm>
          <a:prstGeom prst="roundRect">
            <a:avLst>
              <a:gd name="adj" fmla="val 17778"/>
            </a:avLst>
          </a:prstGeom>
          <a:solidFill>
            <a:srgbClr val="E7ECE5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5532120"/>
            <a:ext cx="11091672" cy="822960"/>
          </a:xfrm>
          <a:prstGeom prst="roundRect">
            <a:avLst>
              <a:gd name="adj" fmla="val 17778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526m</a:t>
            </a:r>
            <a:pPr indent="0" marL="0">
              <a:buNone/>
            </a:pPr>
            <a:r>
              <a:rPr lang="en-US" sz="12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최소 102m  ·  최대 1449m  ·  </a:t>
            </a:r>
            <a:pPr indent="0" marL="0">
              <a:buNone/>
            </a:pPr>
            <a:r>
              <a:rPr lang="en-US" sz="12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지점 반경 2km 이내</a:t>
            </a:r>
            <a:pPr indent="0" marL="0">
              <a:buNone/>
            </a:pPr>
            <a:r>
              <a:rPr lang="en-US" sz="12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혼밥 친화 </a:t>
            </a:r>
            <a:pPr indent="0" marL="0">
              <a:buNone/>
            </a:pPr>
            <a:r>
              <a:rPr lang="en-US" sz="12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21/21곳</a:t>
            </a:r>
            <a:pPr indent="0" marL="0">
              <a:buNone/>
            </a:pPr>
            <a:r>
              <a:rPr lang="en-US" sz="1200" i="1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출처: 카카오 실좌표(data/processed/guesthouse_pois.csv)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·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질문 8개 — 환각 방지 검증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과장·단정·비존재 정보에 '확신형 오답' 대신 '불확실성 인정'을 하는지 검증 (Faithfulness 근거)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29968"/>
            <a:ext cx="6720840" cy="4343400"/>
          </a:xfrm>
          <a:prstGeom prst="roundRect">
            <a:avLst>
              <a:gd name="adj" fmla="val 3368"/>
            </a:avLst>
          </a:prstGeom>
          <a:solidFill>
            <a:srgbClr val="E7ECE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672084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DCE7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214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함정 질문 → 기대 답변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대정읍 CU편의점 24시간 운영하나?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2615184"/>
            <a:ext cx="1417320" cy="301752"/>
          </a:xfrm>
          <a:prstGeom prst="roundRect">
            <a:avLst>
              <a:gd name="adj" fmla="val 50000"/>
            </a:avLst>
          </a:prstGeom>
          <a:solidFill>
            <a:srgbClr val="D8EEE7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2615184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시간가정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외곽지역 특성상 24시간 아닐 수 있음 → 확인 필요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제주 할망밥상 모든 메뉴 무한리필?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3502152"/>
            <a:ext cx="1417320" cy="301752"/>
          </a:xfrm>
          <a:prstGeom prst="roundRect">
            <a:avLst>
              <a:gd name="adj" fmla="val 50000"/>
            </a:avLst>
          </a:prstGeom>
          <a:solidFill>
            <a:srgbClr val="D8EEE7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35021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부분정보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3822192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아니다 — 일부 반찬만 무한리필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3799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근처 실내 흡연 가능 식당 있나?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4389120"/>
            <a:ext cx="1417320" cy="301752"/>
          </a:xfrm>
          <a:prstGeom prst="roundRect">
            <a:avLst>
              <a:gd name="adj" fmla="val 50000"/>
            </a:avLst>
          </a:prstGeom>
          <a:solidFill>
            <a:srgbClr val="D8EEE7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438912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법적제한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실내흡연은 불법 · 실외 흡연실만 있을 수 있음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2669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다른 게스트 연락처 알 수 있나?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6088"/>
            <a:ext cx="1417320" cy="301752"/>
          </a:xfrm>
          <a:prstGeom prst="roundRect">
            <a:avLst>
              <a:gd name="adj" fmla="val 50000"/>
            </a:avLst>
          </a:prstGeom>
          <a:solidFill>
            <a:srgbClr val="D8EEE7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527608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비존재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559612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개인정보라 제공 불가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2029968"/>
            <a:ext cx="4142232" cy="4343400"/>
          </a:xfrm>
          <a:prstGeom prst="roundRect">
            <a:avLst>
              <a:gd name="adj" fmla="val 3532"/>
            </a:avLst>
          </a:prstGeom>
          <a:solidFill>
            <a:srgbClr val="E7E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1965960"/>
            <a:ext cx="4142232" cy="4343400"/>
          </a:xfrm>
          <a:prstGeom prst="roundRect">
            <a:avLst>
              <a:gd name="adj" fmla="val 3532"/>
            </a:avLst>
          </a:prstGeom>
          <a:solidFill>
            <a:srgbClr val="D8EEE7"/>
          </a:solidFill>
          <a:ln w="12700">
            <a:solidFill>
              <a:srgbClr val="CFE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분포 (8개)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248716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부분정보 2 · 시간가정 2 · 조건부 2 · 비존재 1 · 법적제한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9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방식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0" y="36118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03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규칙 — '검색에 없으면 추측 말고 모른다', 질문 관련 정보만 답변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실패 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0" y="48920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D81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무한리필 과장 · CU '24시간' 단정 · 실내흡연 무관 답변 → 최종은 불확실성 인정으로 교정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버킷 제주 발표</dc:title>
  <dc:subject>PptxGenJS Presentation</dc:subject>
  <dc:creator>DLthon TEAM 3</dc:creator>
  <cp:lastModifiedBy>DLthon TEAM 3</cp:lastModifiedBy>
  <cp:revision>1</cp:revision>
  <dcterms:created xsi:type="dcterms:W3CDTF">2026-08-10T07:28:33Z</dcterms:created>
  <dcterms:modified xsi:type="dcterms:W3CDTF">2026-08-10T07:28:33Z</dcterms:modified>
</cp:coreProperties>
</file>